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heCj3ki3+3HWoq2YcrRYcFyg4J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2" d="100"/>
          <a:sy n="22" d="100"/>
        </p:scale>
        <p:origin x="3390" y="7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497013" y="1200150"/>
            <a:ext cx="4321175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2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/>
            </a:lvl1pPr>
            <a:lvl2pPr lvl="1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/>
            </a:lvl2pPr>
            <a:lvl3pPr lvl="2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/>
            </a:lvl3pPr>
            <a:lvl4pPr lvl="3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4pPr>
            <a:lvl5pPr lvl="4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5pPr>
            <a:lvl6pPr lvl="5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6pPr>
            <a:lvl7pPr lvl="6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7pPr>
            <a:lvl8pPr lvl="7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8pPr>
            <a:lvl9pPr lvl="8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2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 sz="96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8640"/>
              <a:buNone/>
              <a:defRPr sz="864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3017520" y="8763000"/>
            <a:ext cx="18653760" cy="208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22219920" y="8763000"/>
            <a:ext cx="18653760" cy="208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 b="1"/>
            </a:lvl1pPr>
            <a:lvl2pPr marL="914400" lvl="1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 b="1"/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 b="1"/>
            </a:lvl3pPr>
            <a:lvl4pPr marL="1828800" lvl="3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4pPr>
            <a:lvl5pPr marL="2286000" lvl="4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5pPr>
            <a:lvl6pPr marL="2743200" lvl="5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6pPr>
            <a:lvl7pPr marL="3200400" lvl="6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7pPr>
            <a:lvl8pPr marL="3657600" lvl="7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8pPr>
            <a:lvl9pPr marL="4114800" lvl="8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3023242" y="12024360"/>
            <a:ext cx="18568032" cy="17686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22219922" y="8069582"/>
            <a:ext cx="18659477" cy="3954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 b="1"/>
            </a:lvl1pPr>
            <a:lvl2pPr marL="914400" lvl="1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 b="1"/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 b="1"/>
            </a:lvl3pPr>
            <a:lvl4pPr marL="1828800" lvl="3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4pPr>
            <a:lvl5pPr marL="2286000" lvl="4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5pPr>
            <a:lvl6pPr marL="2743200" lvl="5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6pPr>
            <a:lvl7pPr marL="3200400" lvl="6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7pPr>
            <a:lvl8pPr marL="3657600" lvl="7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8pPr>
            <a:lvl9pPr marL="4114800" lvl="8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22219922" y="12024360"/>
            <a:ext cx="18659477" cy="17686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53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8659477" y="4739647"/>
            <a:ext cx="22219920" cy="233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120396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60"/>
              <a:buChar char="•"/>
              <a:defRPr sz="15360"/>
            </a:lvl1pPr>
            <a:lvl2pPr marL="914400" lvl="1" indent="-108204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440"/>
              <a:buChar char="•"/>
              <a:defRPr sz="13439"/>
            </a:lvl2pPr>
            <a:lvl3pPr marL="1371600" lvl="2" indent="-96012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Char char="•"/>
              <a:defRPr sz="11520"/>
            </a:lvl3pPr>
            <a:lvl4pPr marL="1828800" lvl="3" indent="-838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4pPr>
            <a:lvl5pPr marL="2286000" lvl="4" indent="-838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5pPr>
            <a:lvl6pPr marL="2743200" lvl="5" indent="-838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6pPr>
            <a:lvl7pPr marL="3200400" lvl="6" indent="-838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7pPr>
            <a:lvl8pPr marL="3657600" lvl="7" indent="-838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8pPr>
            <a:lvl9pPr marL="4114800" lvl="8" indent="-838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3023237" y="9875520"/>
            <a:ext cx="14156054" cy="1829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marL="914400" lvl="1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3pPr>
            <a:lvl4pPr marL="1828800" lvl="3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marL="2286000" lvl="4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marL="2743200" lvl="5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marL="3200400" lvl="6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marL="3657600" lvl="7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marL="4114800" lvl="8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53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18659477" y="4739647"/>
            <a:ext cx="22219920" cy="23393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3023237" y="9875520"/>
            <a:ext cx="14156054" cy="1829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marL="914400" lvl="1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3pPr>
            <a:lvl4pPr marL="1828800" lvl="3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marL="2286000" lvl="4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marL="2743200" lvl="5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marL="3200400" lvl="6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marL="3657600" lvl="7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marL="4114800" lvl="8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11502389" y="278131"/>
            <a:ext cx="20886422" cy="3785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22193251" y="10968991"/>
            <a:ext cx="27896822" cy="946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2990851" y="1779271"/>
            <a:ext cx="27896822" cy="2784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20"/>
              <a:buFont typeface="Calibri"/>
              <a:buNone/>
              <a:defRPr sz="211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1082040" algn="l" rtl="0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3440"/>
              <a:buFont typeface="Arial"/>
              <a:buChar char="•"/>
              <a:defRPr sz="134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6012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Arial"/>
              <a:buChar char="•"/>
              <a:defRPr sz="11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3820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7724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.jpg"/><Relationship Id="rId7" Type="http://schemas.openxmlformats.org/officeDocument/2006/relationships/image" Target="../media/image4.jp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drive.google.com/file/d/113eutAzd7VQS3Jwr-Fbt76mVdIVBHcTg/view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1.jp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hyperlink" Target="http://drive.google.com/file/d/1uQQEau3HFafHDiso3F3bVZytR4CeB8e2/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57200" y="20155700"/>
            <a:ext cx="8743500" cy="12324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57200" y="457200"/>
            <a:ext cx="42976800" cy="4325112"/>
          </a:xfrm>
          <a:prstGeom prst="rect">
            <a:avLst/>
          </a:prstGeom>
          <a:solidFill>
            <a:srgbClr val="B94747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5220566" y="857158"/>
            <a:ext cx="34180800" cy="18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Times New Roman"/>
              <a:buNone/>
            </a:pPr>
            <a:r>
              <a:rPr lang="en-US" sz="6200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Multi-robot Collaboration &amp; Multiple Drive Motion Control of an Autonomous Agricultural Rover</a:t>
            </a:r>
            <a:endParaRPr sz="62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4067239" y="2485992"/>
            <a:ext cx="18473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2323011" y="2855534"/>
            <a:ext cx="182328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Christopher Waight</a:t>
            </a:r>
            <a:endParaRPr sz="49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Advisor: Dr. Christopher Kitts</a:t>
            </a:r>
            <a:endParaRPr sz="490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798887" y="999220"/>
            <a:ext cx="2532888" cy="3026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2251" y="1092337"/>
            <a:ext cx="2904994" cy="2904994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452650" y="20004775"/>
            <a:ext cx="8743500" cy="1323600"/>
          </a:xfrm>
          <a:prstGeom prst="rect">
            <a:avLst/>
          </a:prstGeom>
          <a:solidFill>
            <a:srgbClr val="B94747"/>
          </a:solidFill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Applications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34906200" y="18545275"/>
            <a:ext cx="8527800" cy="6051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4906225" y="25129725"/>
            <a:ext cx="8527800" cy="73506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496525" y="5535100"/>
            <a:ext cx="8743500" cy="13631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34909000" y="5611275"/>
            <a:ext cx="8527800" cy="12338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10292775" y="16048275"/>
            <a:ext cx="10965000" cy="163425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10339125" y="16353063"/>
            <a:ext cx="10965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3716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Multi-robot Collaboration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22219875" y="16048275"/>
            <a:ext cx="11520300" cy="16432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22030450" y="16326475"/>
            <a:ext cx="117096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3716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00B050"/>
                </a:solidFill>
                <a:latin typeface="Trebuchet MS"/>
                <a:ea typeface="Trebuchet MS"/>
                <a:cs typeface="Trebuchet MS"/>
                <a:sym typeface="Trebuchet MS"/>
              </a:rPr>
              <a:t>Multiple Drive Motion Control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10255025" y="5557275"/>
            <a:ext cx="23429700" cy="9801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34906250" y="5611275"/>
            <a:ext cx="8527800" cy="2555100"/>
          </a:xfrm>
          <a:prstGeom prst="rect">
            <a:avLst/>
          </a:prstGeom>
          <a:solidFill>
            <a:srgbClr val="B94747"/>
          </a:solidFill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Control Architecture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476875" y="5557275"/>
            <a:ext cx="8743500" cy="1323600"/>
          </a:xfrm>
          <a:prstGeom prst="rect">
            <a:avLst/>
          </a:prstGeom>
          <a:solidFill>
            <a:srgbClr val="B94747"/>
          </a:solidFill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10229450" y="5611275"/>
            <a:ext cx="23429700" cy="1323600"/>
          </a:xfrm>
          <a:prstGeom prst="rect">
            <a:avLst/>
          </a:prstGeom>
          <a:solidFill>
            <a:srgbClr val="B94747"/>
          </a:solidFill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Background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34872226" y="18545277"/>
            <a:ext cx="8527800" cy="1323600"/>
          </a:xfrm>
          <a:prstGeom prst="rect">
            <a:avLst/>
          </a:prstGeom>
          <a:solidFill>
            <a:srgbClr val="B94747"/>
          </a:solidFill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34906226" y="25155293"/>
            <a:ext cx="8527800" cy="1323600"/>
          </a:xfrm>
          <a:prstGeom prst="rect">
            <a:avLst/>
          </a:prstGeom>
          <a:solidFill>
            <a:srgbClr val="B94747"/>
          </a:solidFill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Work</a:t>
            </a:r>
            <a:endParaRPr sz="80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0470600" y="7231675"/>
            <a:ext cx="23059800" cy="39711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This project aims to build a highly modular rover, capable of adapting its size to task, often by extending its width thereby motivating the need to adapt kinematic transforms. Also, it researches the need for multi-agent collaboration in farming through close proximity position control of multiple rovers starting with coordinated tasks like harvesting, offloading materials etc. This rover uses a differential drive system for maneuvering and computer vision for more precise movements. </a:t>
            </a:r>
            <a:endParaRPr sz="3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34999438" y="26559150"/>
            <a:ext cx="8346900" cy="56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rebuchet MS"/>
              <a:buChar char="●"/>
            </a:pPr>
            <a:r>
              <a:rPr lang="en-US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Develop field level path planning to autonomously navigate multiple crop rows simultaneously</a:t>
            </a:r>
            <a:endParaRPr sz="3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rebuchet MS"/>
              <a:buChar char="●"/>
            </a:pPr>
            <a:r>
              <a:rPr lang="en-US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Development of  a precise docking mechanism for the follower robot(s) to aid operations like produce transer, liquid refill, docking etc.</a:t>
            </a:r>
            <a:endParaRPr sz="3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549850" y="21657342"/>
            <a:ext cx="8182200" cy="7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rebuchet MS"/>
              <a:buChar char="●"/>
            </a:pPr>
            <a:r>
              <a:rPr lang="en-US" sz="3600" b="1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In-field collaborative activities </a:t>
            </a:r>
            <a:r>
              <a:rPr lang="en-US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– Unloading farm produce or materials from another robot, replenishing reducing substances like liquids for sprayers etc.</a:t>
            </a:r>
            <a:endParaRPr sz="36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rebuchet MS"/>
              <a:buChar char="●"/>
            </a:pPr>
            <a:r>
              <a:rPr lang="en-US" sz="3600" b="1">
                <a:solidFill>
                  <a:srgbClr val="00B050"/>
                </a:solidFill>
                <a:latin typeface="Trebuchet MS"/>
                <a:ea typeface="Trebuchet MS"/>
                <a:cs typeface="Trebuchet MS"/>
                <a:sym typeface="Trebuchet MS"/>
              </a:rPr>
              <a:t>Navigation</a:t>
            </a:r>
            <a:r>
              <a:rPr lang="en-US" sz="3600">
                <a:solidFill>
                  <a:srgbClr val="00B05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– Traversing multiple crop rows at once in order to cover a large area more quickly and efficiently</a:t>
            </a:r>
            <a:endParaRPr sz="3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35078274" y="20635206"/>
            <a:ext cx="8183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"/>
          <p:cNvSpPr txBox="1"/>
          <p:nvPr/>
        </p:nvSpPr>
        <p:spPr>
          <a:xfrm>
            <a:off x="712000" y="6941088"/>
            <a:ext cx="8182200" cy="12167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This study focuses on:</a:t>
            </a:r>
            <a:endParaRPr sz="3600">
              <a:solidFill>
                <a:schemeClr val="dk1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rebuchet MS"/>
              <a:buChar char="●"/>
            </a:pPr>
            <a:r>
              <a:rPr lang="en-US" sz="3600">
                <a:solidFill>
                  <a:schemeClr val="dk1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The development of a decentralized control structure which utilizes advanced communication and decision making algorithms to enable collaboration among robots. </a:t>
            </a:r>
            <a:endParaRPr sz="3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rebuchet MS"/>
              <a:buChar char="●"/>
            </a:pPr>
            <a:r>
              <a:rPr lang="en-US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design of a unique modular hardware configuration that allows for extra storage space, more sensors/implements, additional drive units, etc. Currently researching using more than two motors for differential drive of the rover and its kinematics. </a:t>
            </a:r>
            <a:endParaRPr sz="3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35040800" y="8431550"/>
            <a:ext cx="8182200" cy="39711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Char char="●"/>
            </a:pPr>
            <a:r>
              <a:rPr lang="en-US" sz="3600" b="1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Linear/Angular Velocity Control</a:t>
            </a:r>
            <a:r>
              <a:rPr lang="en-US" sz="36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 b="1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– Motor control is important to controlling the linear and angular velocity of the rover, this is how we get the desired motion.</a:t>
            </a:r>
            <a:endParaRPr sz="3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6" name="Google Shape;11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65588" y="27756225"/>
            <a:ext cx="9154001" cy="458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"/>
          <p:cNvSpPr txBox="1"/>
          <p:nvPr/>
        </p:nvSpPr>
        <p:spPr>
          <a:xfrm>
            <a:off x="22403225" y="17235700"/>
            <a:ext cx="10965000" cy="4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rebuchet MS"/>
              <a:buChar char="●"/>
            </a:pPr>
            <a:r>
              <a:rPr lang="en-US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Modular: multiple drive units, extra storage space</a:t>
            </a:r>
            <a:endParaRPr sz="3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rebuchet MS"/>
              <a:buChar char="●"/>
            </a:pPr>
            <a:r>
              <a:rPr lang="en-US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Given motor inputs what is end position and orientation, or inversely, if I want to go to a position with a certain orientation, what do I need to send to my motors</a:t>
            </a:r>
            <a:endParaRPr sz="3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10504100" y="17445425"/>
            <a:ext cx="10451700" cy="25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rebuchet MS"/>
              <a:buChar char="●"/>
            </a:pP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Developing  a 2-Dimension lead-follower navigation control architecture.</a:t>
            </a:r>
            <a:endParaRPr sz="37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1" title="field test - mock edited.mp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8625" y="29282325"/>
            <a:ext cx="7524900" cy="277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536838" y="19565239"/>
            <a:ext cx="8743500" cy="5042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"/>
          <p:cNvPicPr preferRelativeResize="0"/>
          <p:nvPr/>
        </p:nvPicPr>
        <p:blipFill rotWithShape="1">
          <a:blip r:embed="rId9">
            <a:alphaModFix/>
          </a:blip>
          <a:srcRect t="11691"/>
          <a:stretch/>
        </p:blipFill>
        <p:spPr>
          <a:xfrm>
            <a:off x="13709600" y="11206975"/>
            <a:ext cx="7594525" cy="346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"/>
          <p:cNvSpPr txBox="1"/>
          <p:nvPr/>
        </p:nvSpPr>
        <p:spPr>
          <a:xfrm>
            <a:off x="15279925" y="14610775"/>
            <a:ext cx="6471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Fig. 1 : Drive Unit overview</a:t>
            </a:r>
            <a:endParaRPr sz="2800" b="1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3" name="Google Shape;123;p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835025" y="11206975"/>
            <a:ext cx="7279201" cy="346469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"/>
          <p:cNvSpPr txBox="1"/>
          <p:nvPr/>
        </p:nvSpPr>
        <p:spPr>
          <a:xfrm>
            <a:off x="25094474" y="14671675"/>
            <a:ext cx="7279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B050"/>
                </a:solidFill>
                <a:latin typeface="Trebuchet MS"/>
                <a:ea typeface="Trebuchet MS"/>
                <a:cs typeface="Trebuchet MS"/>
                <a:sym typeface="Trebuchet MS"/>
              </a:rPr>
              <a:t>Fig. 2 : Computer Vision Module</a:t>
            </a:r>
            <a:endParaRPr sz="2800" b="1">
              <a:solidFill>
                <a:srgbClr val="00B05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12893887" y="24878025"/>
            <a:ext cx="5632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Fig. 3 : Lead-Follower Structure</a:t>
            </a:r>
            <a:endParaRPr sz="2800" b="1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10484438" y="25739775"/>
            <a:ext cx="104517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rebuchet MS"/>
              <a:buChar char="●"/>
            </a:pP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A hybrid control algorithm that combines  PID and vision-based control is being used for this application.</a:t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2349849" y="21362100"/>
            <a:ext cx="7279201" cy="453865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"/>
          <p:cNvSpPr txBox="1"/>
          <p:nvPr/>
        </p:nvSpPr>
        <p:spPr>
          <a:xfrm>
            <a:off x="34872225" y="20234225"/>
            <a:ext cx="8346900" cy="3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unique hardware configuration is being developed and tested as well as the introduction of control algorithms for multiple robot collaboration in farming.</a:t>
            </a:r>
            <a:endParaRPr sz="3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>
            <a:off x="25742425" y="25893300"/>
            <a:ext cx="0" cy="2107200"/>
          </a:xfrm>
          <a:prstGeom prst="straightConnector1">
            <a:avLst/>
          </a:prstGeom>
          <a:noFill/>
          <a:ln w="114300" cap="flat" cmpd="sng">
            <a:solidFill>
              <a:srgbClr val="B94747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30" name="Google Shape;130;p1"/>
          <p:cNvSpPr txBox="1"/>
          <p:nvPr/>
        </p:nvSpPr>
        <p:spPr>
          <a:xfrm>
            <a:off x="35863274" y="17054963"/>
            <a:ext cx="7279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Fig. 4 : Control Architecture Overview </a:t>
            </a:r>
            <a:endParaRPr sz="2800" b="1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8563162" y="21689075"/>
            <a:ext cx="5109242" cy="5633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5195100" y="12569375"/>
            <a:ext cx="7955599" cy="4318875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pic>
      <p:pic>
        <p:nvPicPr>
          <p:cNvPr id="133" name="Google Shape;133;p1" title="rover_follower_leader.mp4">
            <a:hlinkClick r:id="rId14"/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729750" y="28387125"/>
            <a:ext cx="10206400" cy="369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</Words>
  <Application>Microsoft Office PowerPoint</Application>
  <PresentationFormat>Custom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Trebuchet MS</vt:lpstr>
      <vt:lpstr>Office Theme</vt:lpstr>
      <vt:lpstr>Multi-robot Collaboration &amp; Multiple Drive Motion Control of an Autonomous Agricultural Rover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Multi-robot Collaboration &amp; Multiple Drive Motion Control of an Autonomous Agricultural Rover</dc:title>
  <dc:creator>Matthew Condino</dc:creator>
  <cp:lastModifiedBy>Christopher Waight</cp:lastModifiedBy>
  <cp:revision>1</cp:revision>
  <dcterms:created xsi:type="dcterms:W3CDTF">2016-09-13T20:48:54Z</dcterms:created>
  <dcterms:modified xsi:type="dcterms:W3CDTF">2024-01-23T18:30:24Z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M SIP Document Sensitivity">
    <vt:lpwstr/>
  </property>
  <property fmtid="{D5CDD505-2E9C-101B-9397-08002B2CF9AE}" pid="3" name="Document Author">
    <vt:lpwstr>ACCT01\rlee15</vt:lpwstr>
  </property>
  <property fmtid="{D5CDD505-2E9C-101B-9397-08002B2CF9AE}" pid="4" name="Document Sensitivity">
    <vt:lpwstr>1</vt:lpwstr>
  </property>
  <property fmtid="{D5CDD505-2E9C-101B-9397-08002B2CF9AE}" pid="5" name="ThirdParty">
    <vt:lpwstr/>
  </property>
  <property fmtid="{D5CDD505-2E9C-101B-9397-08002B2CF9AE}" pid="6" name="OCI Restriction">
    <vt:bool>false</vt:bool>
  </property>
  <property fmtid="{D5CDD505-2E9C-101B-9397-08002B2CF9AE}" pid="7" name="OCI Additional Info">
    <vt:lpwstr/>
  </property>
  <property fmtid="{D5CDD505-2E9C-101B-9397-08002B2CF9AE}" pid="8" name="Allow Header Overwrite">
    <vt:bool>false</vt:bool>
  </property>
  <property fmtid="{D5CDD505-2E9C-101B-9397-08002B2CF9AE}" pid="9" name="Allow Footer Overwrite">
    <vt:bool>false</vt:bool>
  </property>
  <property fmtid="{D5CDD505-2E9C-101B-9397-08002B2CF9AE}" pid="10" name="Multiple Selected">
    <vt:lpwstr>-1</vt:lpwstr>
  </property>
  <property fmtid="{D5CDD505-2E9C-101B-9397-08002B2CF9AE}" pid="11" name="SIPLongWording">
    <vt:lpwstr/>
  </property>
  <property fmtid="{D5CDD505-2E9C-101B-9397-08002B2CF9AE}" pid="12" name="checkedProgramsCount">
    <vt:i4>0</vt:i4>
  </property>
  <property fmtid="{D5CDD505-2E9C-101B-9397-08002B2CF9AE}" pid="13" name="ExpCountry">
    <vt:lpwstr/>
  </property>
</Properties>
</file>